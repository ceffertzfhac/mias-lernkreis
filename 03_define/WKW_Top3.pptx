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5E"/>
        </a:solidFill>
      </p:bgPr>
    </p:bg>
    <p:spTree>
      <p:nvGrpSpPr>
        <p:cNvPr id="1" name=""/>
        <p:cNvGrpSpPr/>
        <p:nvPr/>
      </p:nvGrpSpPr>
      <p:grpSpPr>
        <a:xfrm>
          <a:off x="0" y="0"/>
          <a:ext cx="0" cy="0"/>
          <a:chOff x="0" y="0"/>
          <a:chExt cx="0" cy="0"/>
        </a:xfrm>
      </p:grpSpPr>
      <p:sp>
        <p:nvSpPr>
          <p:cNvPr id="2" name="Shape 0"/>
          <p:cNvSpPr/>
          <p:nvPr/>
        </p:nvSpPr>
        <p:spPr>
          <a:xfrm>
            <a:off x="0" y="0"/>
            <a:ext cx="0" cy="6858000"/>
          </a:xfrm>
          <a:prstGeom prst="line">
            <a:avLst/>
          </a:prstGeom>
          <a:noFill/>
          <a:ln w="12700">
            <a:solidFill>
              <a:srgbClr val="FFFFFF">
                <a:alpha val="15000"/>
              </a:srgbClr>
            </a:solidFill>
            <a:prstDash val="solid"/>
          </a:ln>
        </p:spPr>
      </p:sp>
      <p:sp>
        <p:nvSpPr>
          <p:cNvPr id="3" name="Shape 1"/>
          <p:cNvSpPr/>
          <p:nvPr/>
        </p:nvSpPr>
        <p:spPr>
          <a:xfrm>
            <a:off x="914400" y="0"/>
            <a:ext cx="0" cy="6858000"/>
          </a:xfrm>
          <a:prstGeom prst="line">
            <a:avLst/>
          </a:prstGeom>
          <a:noFill/>
          <a:ln w="12700">
            <a:solidFill>
              <a:srgbClr val="FFFFFF">
                <a:alpha val="15000"/>
              </a:srgbClr>
            </a:solidFill>
            <a:prstDash val="solid"/>
          </a:ln>
        </p:spPr>
      </p:sp>
      <p:sp>
        <p:nvSpPr>
          <p:cNvPr id="4" name="Shape 2"/>
          <p:cNvSpPr/>
          <p:nvPr/>
        </p:nvSpPr>
        <p:spPr>
          <a:xfrm>
            <a:off x="1828800" y="0"/>
            <a:ext cx="0" cy="6858000"/>
          </a:xfrm>
          <a:prstGeom prst="line">
            <a:avLst/>
          </a:prstGeom>
          <a:noFill/>
          <a:ln w="12700">
            <a:solidFill>
              <a:srgbClr val="FFFFFF">
                <a:alpha val="15000"/>
              </a:srgbClr>
            </a:solidFill>
            <a:prstDash val="solid"/>
          </a:ln>
        </p:spPr>
      </p:sp>
      <p:sp>
        <p:nvSpPr>
          <p:cNvPr id="5" name="Shape 3"/>
          <p:cNvSpPr/>
          <p:nvPr/>
        </p:nvSpPr>
        <p:spPr>
          <a:xfrm>
            <a:off x="2743200" y="0"/>
            <a:ext cx="0" cy="6858000"/>
          </a:xfrm>
          <a:prstGeom prst="line">
            <a:avLst/>
          </a:prstGeom>
          <a:noFill/>
          <a:ln w="12700">
            <a:solidFill>
              <a:srgbClr val="FFFFFF">
                <a:alpha val="15000"/>
              </a:srgbClr>
            </a:solidFill>
            <a:prstDash val="solid"/>
          </a:ln>
        </p:spPr>
      </p:sp>
      <p:sp>
        <p:nvSpPr>
          <p:cNvPr id="6" name="Shape 4"/>
          <p:cNvSpPr/>
          <p:nvPr/>
        </p:nvSpPr>
        <p:spPr>
          <a:xfrm>
            <a:off x="3657600" y="0"/>
            <a:ext cx="0" cy="6858000"/>
          </a:xfrm>
          <a:prstGeom prst="line">
            <a:avLst/>
          </a:prstGeom>
          <a:noFill/>
          <a:ln w="12700">
            <a:solidFill>
              <a:srgbClr val="FFFFFF">
                <a:alpha val="15000"/>
              </a:srgbClr>
            </a:solidFill>
            <a:prstDash val="solid"/>
          </a:ln>
        </p:spPr>
      </p:sp>
      <p:sp>
        <p:nvSpPr>
          <p:cNvPr id="7" name="Shape 5"/>
          <p:cNvSpPr/>
          <p:nvPr/>
        </p:nvSpPr>
        <p:spPr>
          <a:xfrm>
            <a:off x="4572000" y="0"/>
            <a:ext cx="0" cy="6858000"/>
          </a:xfrm>
          <a:prstGeom prst="line">
            <a:avLst/>
          </a:prstGeom>
          <a:noFill/>
          <a:ln w="12700">
            <a:solidFill>
              <a:srgbClr val="FFFFFF">
                <a:alpha val="15000"/>
              </a:srgbClr>
            </a:solidFill>
            <a:prstDash val="solid"/>
          </a:ln>
        </p:spPr>
      </p:sp>
      <p:sp>
        <p:nvSpPr>
          <p:cNvPr id="8" name="Shape 6"/>
          <p:cNvSpPr/>
          <p:nvPr/>
        </p:nvSpPr>
        <p:spPr>
          <a:xfrm>
            <a:off x="5486400" y="0"/>
            <a:ext cx="0" cy="6858000"/>
          </a:xfrm>
          <a:prstGeom prst="line">
            <a:avLst/>
          </a:prstGeom>
          <a:noFill/>
          <a:ln w="12700">
            <a:solidFill>
              <a:srgbClr val="FFFFFF">
                <a:alpha val="15000"/>
              </a:srgbClr>
            </a:solidFill>
            <a:prstDash val="solid"/>
          </a:ln>
        </p:spPr>
      </p:sp>
      <p:sp>
        <p:nvSpPr>
          <p:cNvPr id="9" name="Shape 7"/>
          <p:cNvSpPr/>
          <p:nvPr/>
        </p:nvSpPr>
        <p:spPr>
          <a:xfrm>
            <a:off x="6400800" y="0"/>
            <a:ext cx="0" cy="6858000"/>
          </a:xfrm>
          <a:prstGeom prst="line">
            <a:avLst/>
          </a:prstGeom>
          <a:noFill/>
          <a:ln w="12700">
            <a:solidFill>
              <a:srgbClr val="FFFFFF">
                <a:alpha val="15000"/>
              </a:srgbClr>
            </a:solidFill>
            <a:prstDash val="solid"/>
          </a:ln>
        </p:spPr>
      </p:sp>
      <p:sp>
        <p:nvSpPr>
          <p:cNvPr id="10" name="Shape 8"/>
          <p:cNvSpPr/>
          <p:nvPr/>
        </p:nvSpPr>
        <p:spPr>
          <a:xfrm>
            <a:off x="7315200" y="0"/>
            <a:ext cx="0" cy="6858000"/>
          </a:xfrm>
          <a:prstGeom prst="line">
            <a:avLst/>
          </a:prstGeom>
          <a:noFill/>
          <a:ln w="12700">
            <a:solidFill>
              <a:srgbClr val="FFFFFF">
                <a:alpha val="15000"/>
              </a:srgbClr>
            </a:solidFill>
            <a:prstDash val="solid"/>
          </a:ln>
        </p:spPr>
      </p:sp>
      <p:sp>
        <p:nvSpPr>
          <p:cNvPr id="11" name="Shape 9"/>
          <p:cNvSpPr/>
          <p:nvPr/>
        </p:nvSpPr>
        <p:spPr>
          <a:xfrm>
            <a:off x="8229600" y="0"/>
            <a:ext cx="0" cy="6858000"/>
          </a:xfrm>
          <a:prstGeom prst="line">
            <a:avLst/>
          </a:prstGeom>
          <a:noFill/>
          <a:ln w="12700">
            <a:solidFill>
              <a:srgbClr val="FFFFFF">
                <a:alpha val="15000"/>
              </a:srgbClr>
            </a:solidFill>
            <a:prstDash val="solid"/>
          </a:ln>
        </p:spPr>
      </p:sp>
      <p:sp>
        <p:nvSpPr>
          <p:cNvPr id="12" name="Shape 10"/>
          <p:cNvSpPr/>
          <p:nvPr/>
        </p:nvSpPr>
        <p:spPr>
          <a:xfrm>
            <a:off x="9144000" y="0"/>
            <a:ext cx="0" cy="6858000"/>
          </a:xfrm>
          <a:prstGeom prst="line">
            <a:avLst/>
          </a:prstGeom>
          <a:noFill/>
          <a:ln w="12700">
            <a:solidFill>
              <a:srgbClr val="FFFFFF">
                <a:alpha val="15000"/>
              </a:srgbClr>
            </a:solidFill>
            <a:prstDash val="solid"/>
          </a:ln>
        </p:spPr>
      </p:sp>
      <p:sp>
        <p:nvSpPr>
          <p:cNvPr id="13" name="Shape 11"/>
          <p:cNvSpPr/>
          <p:nvPr/>
        </p:nvSpPr>
        <p:spPr>
          <a:xfrm>
            <a:off x="10058400" y="0"/>
            <a:ext cx="0" cy="6858000"/>
          </a:xfrm>
          <a:prstGeom prst="line">
            <a:avLst/>
          </a:prstGeom>
          <a:noFill/>
          <a:ln w="12700">
            <a:solidFill>
              <a:srgbClr val="FFFFFF">
                <a:alpha val="15000"/>
              </a:srgbClr>
            </a:solidFill>
            <a:prstDash val="solid"/>
          </a:ln>
        </p:spPr>
      </p:sp>
      <p:sp>
        <p:nvSpPr>
          <p:cNvPr id="14" name="Shape 12"/>
          <p:cNvSpPr/>
          <p:nvPr/>
        </p:nvSpPr>
        <p:spPr>
          <a:xfrm>
            <a:off x="10972800" y="0"/>
            <a:ext cx="0" cy="6858000"/>
          </a:xfrm>
          <a:prstGeom prst="line">
            <a:avLst/>
          </a:prstGeom>
          <a:noFill/>
          <a:ln w="12700">
            <a:solidFill>
              <a:srgbClr val="FFFFFF">
                <a:alpha val="15000"/>
              </a:srgbClr>
            </a:solidFill>
            <a:prstDash val="solid"/>
          </a:ln>
        </p:spPr>
      </p:sp>
      <p:sp>
        <p:nvSpPr>
          <p:cNvPr id="15" name="Shape 13"/>
          <p:cNvSpPr/>
          <p:nvPr/>
        </p:nvSpPr>
        <p:spPr>
          <a:xfrm>
            <a:off x="11887200" y="0"/>
            <a:ext cx="0" cy="6858000"/>
          </a:xfrm>
          <a:prstGeom prst="line">
            <a:avLst/>
          </a:prstGeom>
          <a:noFill/>
          <a:ln w="12700">
            <a:solidFill>
              <a:srgbClr val="FFFFFF">
                <a:alpha val="15000"/>
              </a:srgbClr>
            </a:solidFill>
            <a:prstDash val="solid"/>
          </a:ln>
        </p:spPr>
      </p:sp>
      <p:sp>
        <p:nvSpPr>
          <p:cNvPr id="16" name="Text 14"/>
          <p:cNvSpPr/>
          <p:nvPr/>
        </p:nvSpPr>
        <p:spPr>
          <a:xfrm>
            <a:off x="365760" y="182880"/>
            <a:ext cx="6400800" cy="320040"/>
          </a:xfrm>
          <a:prstGeom prst="rect">
            <a:avLst/>
          </a:prstGeom>
          <a:noFill/>
          <a:ln/>
        </p:spPr>
        <p:txBody>
          <a:bodyPr wrap="square" lIns="0" tIns="0" rIns="0" bIns="0" rtlCol="0" anchor="ctr"/>
          <a:lstStyle/>
          <a:p>
            <a:pPr indent="0" marL="0">
              <a:buNone/>
            </a:pPr>
            <a:r>
              <a:rPr lang="en-US" sz="1000" b="1" spc="400" kern="0" dirty="0">
                <a:solidFill>
                  <a:srgbClr val="A8C4E0"/>
                </a:solidFill>
              </a:rPr>
              <a:t>WIE KOENNTEN WIR —</a:t>
            </a:r>
            <a:endParaRPr lang="en-US" sz="1000" dirty="0"/>
          </a:p>
        </p:txBody>
      </p:sp>
      <p:sp>
        <p:nvSpPr>
          <p:cNvPr id="17" name="Text 15"/>
          <p:cNvSpPr/>
          <p:nvPr/>
        </p:nvSpPr>
        <p:spPr>
          <a:xfrm>
            <a:off x="365760" y="457200"/>
            <a:ext cx="6400800" cy="365760"/>
          </a:xfrm>
          <a:prstGeom prst="rect">
            <a:avLst/>
          </a:prstGeom>
          <a:noFill/>
          <a:ln/>
        </p:spPr>
        <p:txBody>
          <a:bodyPr wrap="square" lIns="0" tIns="0" rIns="0" bIns="0" rtlCol="0" anchor="ctr"/>
          <a:lstStyle/>
          <a:p>
            <a:pPr indent="0" marL="0">
              <a:buNone/>
            </a:pPr>
            <a:r>
              <a:rPr lang="en-US" sz="1800" b="1" dirty="0">
                <a:solidFill>
                  <a:srgbClr val="FFFFFF"/>
                </a:solidFill>
              </a:rPr>
              <a:t>Top 3 WKW-Fragen fuer die Ideation</a:t>
            </a:r>
            <a:endParaRPr lang="en-US" sz="1800" dirty="0"/>
          </a:p>
        </p:txBody>
      </p:sp>
      <p:sp>
        <p:nvSpPr>
          <p:cNvPr id="18" name="Text 16"/>
          <p:cNvSpPr/>
          <p:nvPr/>
        </p:nvSpPr>
        <p:spPr>
          <a:xfrm>
            <a:off x="6400800" y="274320"/>
            <a:ext cx="5394960" cy="320040"/>
          </a:xfrm>
          <a:prstGeom prst="rect">
            <a:avLst/>
          </a:prstGeom>
          <a:noFill/>
          <a:ln/>
        </p:spPr>
        <p:txBody>
          <a:bodyPr wrap="square" lIns="0" tIns="0" rIns="0" bIns="0" rtlCol="0" anchor="ctr"/>
          <a:lstStyle/>
          <a:p>
            <a:pPr algn="r" indent="0" marL="0">
              <a:buNone/>
            </a:pPr>
            <a:r>
              <a:rPr lang="en-US" sz="900" dirty="0">
                <a:solidFill>
                  <a:srgbClr val="6B96B8"/>
                </a:solidFill>
              </a:rPr>
              <a:t>Persona: Mia  |  DTconsulting  |  2026</a:t>
            </a:r>
            <a:endParaRPr lang="en-US" sz="900" dirty="0"/>
          </a:p>
        </p:txBody>
      </p:sp>
      <p:sp>
        <p:nvSpPr>
          <p:cNvPr id="19" name="Shape 17"/>
          <p:cNvSpPr/>
          <p:nvPr/>
        </p:nvSpPr>
        <p:spPr>
          <a:xfrm rot="-108000">
            <a:off x="640080" y="1874520"/>
            <a:ext cx="3474720" cy="3840480"/>
          </a:xfrm>
          <a:prstGeom prst="rect">
            <a:avLst/>
          </a:prstGeom>
          <a:solidFill>
            <a:srgbClr val="C9A800">
              <a:alpha val="30000"/>
            </a:srgbClr>
          </a:solidFill>
          <a:ln w="12700">
            <a:solidFill>
              <a:srgbClr val="C9A800">
                <a:alpha val="30000"/>
              </a:srgbClr>
            </a:solidFill>
            <a:prstDash val="solid"/>
          </a:ln>
        </p:spPr>
      </p:sp>
      <p:sp>
        <p:nvSpPr>
          <p:cNvPr id="20" name="Shape 18"/>
          <p:cNvSpPr/>
          <p:nvPr/>
        </p:nvSpPr>
        <p:spPr>
          <a:xfrm rot="-108000">
            <a:off x="548640" y="1783080"/>
            <a:ext cx="3474720" cy="3840480"/>
          </a:xfrm>
          <a:prstGeom prst="rect">
            <a:avLst/>
          </a:prstGeom>
          <a:solidFill>
            <a:srgbClr val="FFF176"/>
          </a:solidFill>
          <a:ln w="12700">
            <a:solidFill>
              <a:srgbClr val="C9A800">
                <a:alpha val="45000"/>
              </a:srgbClr>
            </a:solidFill>
            <a:prstDash val="solid"/>
          </a:ln>
          <a:effectLst>
            <a:outerShdw sx="100000" sy="100000" kx="0" ky="0" algn="bl" rotWithShape="0" blurRad="127000" dist="50800" dir="8100000">
              <a:srgbClr val="000000">
                <a:alpha val="18000"/>
              </a:srgbClr>
            </a:outerShdw>
          </a:effectLst>
        </p:spPr>
      </p:sp>
      <p:sp>
        <p:nvSpPr>
          <p:cNvPr id="21" name="Shape 19"/>
          <p:cNvSpPr/>
          <p:nvPr/>
        </p:nvSpPr>
        <p:spPr>
          <a:xfrm rot="-108000">
            <a:off x="3657600" y="1783080"/>
            <a:ext cx="365760" cy="365760"/>
          </a:xfrm>
          <a:prstGeom prst="rect">
            <a:avLst/>
          </a:prstGeom>
          <a:solidFill>
            <a:srgbClr val="C9A800">
              <a:alpha val="55000"/>
            </a:srgbClr>
          </a:solidFill>
          <a:ln w="12700">
            <a:solidFill>
              <a:srgbClr val="C9A800">
                <a:alpha val="55000"/>
              </a:srgbClr>
            </a:solidFill>
            <a:prstDash val="solid"/>
          </a:ln>
        </p:spPr>
      </p:sp>
      <p:sp>
        <p:nvSpPr>
          <p:cNvPr id="22" name="Shape 20"/>
          <p:cNvSpPr/>
          <p:nvPr/>
        </p:nvSpPr>
        <p:spPr>
          <a:xfrm rot="-108000">
            <a:off x="548640" y="1783080"/>
            <a:ext cx="3474720" cy="384048"/>
          </a:xfrm>
          <a:prstGeom prst="rect">
            <a:avLst/>
          </a:prstGeom>
          <a:solidFill>
            <a:srgbClr val="C9A800">
              <a:alpha val="50000"/>
            </a:srgbClr>
          </a:solidFill>
          <a:ln w="12700">
            <a:solidFill>
              <a:srgbClr val="C9A800">
                <a:alpha val="50000"/>
              </a:srgbClr>
            </a:solidFill>
            <a:prstDash val="solid"/>
          </a:ln>
        </p:spPr>
      </p:sp>
      <p:sp>
        <p:nvSpPr>
          <p:cNvPr id="23" name="Text 21"/>
          <p:cNvSpPr/>
          <p:nvPr/>
        </p:nvSpPr>
        <p:spPr>
          <a:xfrm rot="-108000">
            <a:off x="713232" y="1847088"/>
            <a:ext cx="3145536" cy="256032"/>
          </a:xfrm>
          <a:prstGeom prst="rect">
            <a:avLst/>
          </a:prstGeom>
          <a:noFill/>
          <a:ln/>
        </p:spPr>
        <p:txBody>
          <a:bodyPr wrap="square" lIns="0" tIns="0" rIns="0" bIns="0" rtlCol="0" anchor="ctr"/>
          <a:lstStyle/>
          <a:p>
            <a:pPr indent="0" marL="0">
              <a:buNone/>
            </a:pPr>
            <a:r>
              <a:rPr lang="en-US" sz="750" b="1" spc="150" kern="0" dirty="0">
                <a:solidFill>
                  <a:srgbClr val="7A6200"/>
                </a:solidFill>
              </a:rPr>
              <a:t>1 — LERNFORTSCHRITT &amp; UNSICHTBARE ZIELE</a:t>
            </a:r>
            <a:endParaRPr lang="en-US" sz="750" dirty="0"/>
          </a:p>
        </p:txBody>
      </p:sp>
      <p:sp>
        <p:nvSpPr>
          <p:cNvPr id="24" name="Text 22"/>
          <p:cNvSpPr/>
          <p:nvPr/>
        </p:nvSpPr>
        <p:spPr>
          <a:xfrm rot="-108000">
            <a:off x="731520" y="2286000"/>
            <a:ext cx="3108960" cy="3154680"/>
          </a:xfrm>
          <a:prstGeom prst="rect">
            <a:avLst/>
          </a:prstGeom>
          <a:noFill/>
          <a:ln/>
        </p:spPr>
        <p:txBody>
          <a:bodyPr wrap="square" rtlCol="0" anchor="t"/>
          <a:lstStyle/>
          <a:p>
            <a:pPr indent="0" marL="0">
              <a:lnSpc>
                <a:spcPct val="140000"/>
              </a:lnSpc>
              <a:buNone/>
            </a:pPr>
            <a:r>
              <a:rPr lang="en-US" sz="1050" dirty="0">
                <a:solidFill>
                  <a:srgbClr val="1C1828"/>
                </a:solidFill>
              </a:rPr>
              <a:t>Wie koennen wir Mia, die nicht weiss wo sie im Lernprozess steht weil die Ziele der Pruefung fuer sie unsichtbar sind, dabei helfen ihren eigenen Fortschritt einzuschaetzen — so dass sie aufhoert sich an anderen zu orientieren und anfaengt sich an sich selbst zu messen?</a:t>
            </a:r>
            <a:endParaRPr lang="en-US" sz="1050" dirty="0"/>
          </a:p>
        </p:txBody>
      </p:sp>
      <p:sp>
        <p:nvSpPr>
          <p:cNvPr id="25" name="Shape 23"/>
          <p:cNvSpPr/>
          <p:nvPr/>
        </p:nvSpPr>
        <p:spPr>
          <a:xfrm rot="48000">
            <a:off x="4434840" y="2057400"/>
            <a:ext cx="3474720" cy="3840480"/>
          </a:xfrm>
          <a:prstGeom prst="rect">
            <a:avLst/>
          </a:prstGeom>
          <a:solidFill>
            <a:srgbClr val="00838F">
              <a:alpha val="30000"/>
            </a:srgbClr>
          </a:solidFill>
          <a:ln w="12700">
            <a:solidFill>
              <a:srgbClr val="00838F">
                <a:alpha val="30000"/>
              </a:srgbClr>
            </a:solidFill>
            <a:prstDash val="solid"/>
          </a:ln>
        </p:spPr>
      </p:sp>
      <p:sp>
        <p:nvSpPr>
          <p:cNvPr id="26" name="Shape 24"/>
          <p:cNvSpPr/>
          <p:nvPr/>
        </p:nvSpPr>
        <p:spPr>
          <a:xfrm rot="48000">
            <a:off x="4343400" y="1965960"/>
            <a:ext cx="3474720" cy="3840480"/>
          </a:xfrm>
          <a:prstGeom prst="rect">
            <a:avLst/>
          </a:prstGeom>
          <a:solidFill>
            <a:srgbClr val="80DEEA"/>
          </a:solidFill>
          <a:ln w="12700">
            <a:solidFill>
              <a:srgbClr val="00838F">
                <a:alpha val="45000"/>
              </a:srgbClr>
            </a:solidFill>
            <a:prstDash val="solid"/>
          </a:ln>
          <a:effectLst>
            <a:outerShdw sx="100000" sy="100000" kx="0" ky="0" algn="bl" rotWithShape="0" blurRad="127000" dist="50800" dir="8100000">
              <a:srgbClr val="000000">
                <a:alpha val="18000"/>
              </a:srgbClr>
            </a:outerShdw>
          </a:effectLst>
        </p:spPr>
      </p:sp>
      <p:sp>
        <p:nvSpPr>
          <p:cNvPr id="27" name="Shape 25"/>
          <p:cNvSpPr/>
          <p:nvPr/>
        </p:nvSpPr>
        <p:spPr>
          <a:xfrm rot="48000">
            <a:off x="7452360" y="1965960"/>
            <a:ext cx="365760" cy="365760"/>
          </a:xfrm>
          <a:prstGeom prst="rect">
            <a:avLst/>
          </a:prstGeom>
          <a:solidFill>
            <a:srgbClr val="00838F">
              <a:alpha val="55000"/>
            </a:srgbClr>
          </a:solidFill>
          <a:ln w="12700">
            <a:solidFill>
              <a:srgbClr val="00838F">
                <a:alpha val="55000"/>
              </a:srgbClr>
            </a:solidFill>
            <a:prstDash val="solid"/>
          </a:ln>
        </p:spPr>
      </p:sp>
      <p:sp>
        <p:nvSpPr>
          <p:cNvPr id="28" name="Shape 26"/>
          <p:cNvSpPr/>
          <p:nvPr/>
        </p:nvSpPr>
        <p:spPr>
          <a:xfrm rot="48000">
            <a:off x="4343400" y="1965960"/>
            <a:ext cx="3474720" cy="384048"/>
          </a:xfrm>
          <a:prstGeom prst="rect">
            <a:avLst/>
          </a:prstGeom>
          <a:solidFill>
            <a:srgbClr val="00838F">
              <a:alpha val="50000"/>
            </a:srgbClr>
          </a:solidFill>
          <a:ln w="12700">
            <a:solidFill>
              <a:srgbClr val="00838F">
                <a:alpha val="50000"/>
              </a:srgbClr>
            </a:solidFill>
            <a:prstDash val="solid"/>
          </a:ln>
        </p:spPr>
      </p:sp>
      <p:sp>
        <p:nvSpPr>
          <p:cNvPr id="29" name="Text 27"/>
          <p:cNvSpPr/>
          <p:nvPr/>
        </p:nvSpPr>
        <p:spPr>
          <a:xfrm rot="48000">
            <a:off x="4507992" y="2029968"/>
            <a:ext cx="3145536" cy="256032"/>
          </a:xfrm>
          <a:prstGeom prst="rect">
            <a:avLst/>
          </a:prstGeom>
          <a:noFill/>
          <a:ln/>
        </p:spPr>
        <p:txBody>
          <a:bodyPr wrap="square" lIns="0" tIns="0" rIns="0" bIns="0" rtlCol="0" anchor="ctr"/>
          <a:lstStyle/>
          <a:p>
            <a:pPr indent="0" marL="0">
              <a:buNone/>
            </a:pPr>
            <a:r>
              <a:rPr lang="en-US" sz="750" b="1" spc="150" kern="0" dirty="0">
                <a:solidFill>
                  <a:srgbClr val="00574B"/>
                </a:solidFill>
              </a:rPr>
              <a:t>3 — SOZIALES NETZWERK ALS RESSOURCE</a:t>
            </a:r>
            <a:endParaRPr lang="en-US" sz="750" dirty="0"/>
          </a:p>
        </p:txBody>
      </p:sp>
      <p:sp>
        <p:nvSpPr>
          <p:cNvPr id="30" name="Text 28"/>
          <p:cNvSpPr/>
          <p:nvPr/>
        </p:nvSpPr>
        <p:spPr>
          <a:xfrm rot="48000">
            <a:off x="4526280" y="2468880"/>
            <a:ext cx="3108960" cy="3154680"/>
          </a:xfrm>
          <a:prstGeom prst="rect">
            <a:avLst/>
          </a:prstGeom>
          <a:noFill/>
          <a:ln/>
        </p:spPr>
        <p:txBody>
          <a:bodyPr wrap="square" rtlCol="0" anchor="t"/>
          <a:lstStyle/>
          <a:p>
            <a:pPr indent="0" marL="0">
              <a:lnSpc>
                <a:spcPct val="140000"/>
              </a:lnSpc>
              <a:buNone/>
            </a:pPr>
            <a:r>
              <a:rPr lang="en-US" sz="1050" dirty="0">
                <a:solidFill>
                  <a:srgbClr val="1C1828"/>
                </a:solidFill>
              </a:rPr>
              <a:t>Wie koennen wir Mia, die Sicherheit durch soziale Bestaetigung sucht und ihre Gruppe als einzigen Orientierungsanker nutzt, dabei helfen den sozialen Vergleich von kollektiver Panik in echtes gemeinsames Wissen zu verwandeln?</a:t>
            </a:r>
            <a:endParaRPr lang="en-US" sz="1050" dirty="0"/>
          </a:p>
        </p:txBody>
      </p:sp>
      <p:sp>
        <p:nvSpPr>
          <p:cNvPr id="31" name="Shape 29"/>
          <p:cNvSpPr/>
          <p:nvPr/>
        </p:nvSpPr>
        <p:spPr>
          <a:xfrm rot="-72000">
            <a:off x="8229600" y="1874520"/>
            <a:ext cx="3474720" cy="3840480"/>
          </a:xfrm>
          <a:prstGeom prst="rect">
            <a:avLst/>
          </a:prstGeom>
          <a:solidFill>
            <a:srgbClr val="6A1B9A">
              <a:alpha val="30000"/>
            </a:srgbClr>
          </a:solidFill>
          <a:ln w="12700">
            <a:solidFill>
              <a:srgbClr val="6A1B9A">
                <a:alpha val="30000"/>
              </a:srgbClr>
            </a:solidFill>
            <a:prstDash val="solid"/>
          </a:ln>
        </p:spPr>
      </p:sp>
      <p:sp>
        <p:nvSpPr>
          <p:cNvPr id="32" name="Shape 30"/>
          <p:cNvSpPr/>
          <p:nvPr/>
        </p:nvSpPr>
        <p:spPr>
          <a:xfrm rot="-72000">
            <a:off x="8138160" y="1783080"/>
            <a:ext cx="3474720" cy="3840480"/>
          </a:xfrm>
          <a:prstGeom prst="rect">
            <a:avLst/>
          </a:prstGeom>
          <a:solidFill>
            <a:srgbClr val="CE93D8"/>
          </a:solidFill>
          <a:ln w="12700">
            <a:solidFill>
              <a:srgbClr val="6A1B9A">
                <a:alpha val="45000"/>
              </a:srgbClr>
            </a:solidFill>
            <a:prstDash val="solid"/>
          </a:ln>
          <a:effectLst>
            <a:outerShdw sx="100000" sy="100000" kx="0" ky="0" algn="bl" rotWithShape="0" blurRad="127000" dist="50800" dir="8100000">
              <a:srgbClr val="000000">
                <a:alpha val="18000"/>
              </a:srgbClr>
            </a:outerShdw>
          </a:effectLst>
        </p:spPr>
      </p:sp>
      <p:sp>
        <p:nvSpPr>
          <p:cNvPr id="33" name="Shape 31"/>
          <p:cNvSpPr/>
          <p:nvPr/>
        </p:nvSpPr>
        <p:spPr>
          <a:xfrm rot="-72000">
            <a:off x="11247120" y="1783080"/>
            <a:ext cx="365760" cy="365760"/>
          </a:xfrm>
          <a:prstGeom prst="rect">
            <a:avLst/>
          </a:prstGeom>
          <a:solidFill>
            <a:srgbClr val="6A1B9A">
              <a:alpha val="55000"/>
            </a:srgbClr>
          </a:solidFill>
          <a:ln w="12700">
            <a:solidFill>
              <a:srgbClr val="6A1B9A">
                <a:alpha val="55000"/>
              </a:srgbClr>
            </a:solidFill>
            <a:prstDash val="solid"/>
          </a:ln>
        </p:spPr>
      </p:sp>
      <p:sp>
        <p:nvSpPr>
          <p:cNvPr id="34" name="Shape 32"/>
          <p:cNvSpPr/>
          <p:nvPr/>
        </p:nvSpPr>
        <p:spPr>
          <a:xfrm rot="-72000">
            <a:off x="8138160" y="1783080"/>
            <a:ext cx="3474720" cy="384048"/>
          </a:xfrm>
          <a:prstGeom prst="rect">
            <a:avLst/>
          </a:prstGeom>
          <a:solidFill>
            <a:srgbClr val="6A1B9A">
              <a:alpha val="50000"/>
            </a:srgbClr>
          </a:solidFill>
          <a:ln w="12700">
            <a:solidFill>
              <a:srgbClr val="6A1B9A">
                <a:alpha val="50000"/>
              </a:srgbClr>
            </a:solidFill>
            <a:prstDash val="solid"/>
          </a:ln>
        </p:spPr>
      </p:sp>
      <p:sp>
        <p:nvSpPr>
          <p:cNvPr id="35" name="Text 33"/>
          <p:cNvSpPr/>
          <p:nvPr/>
        </p:nvSpPr>
        <p:spPr>
          <a:xfrm rot="-72000">
            <a:off x="8302752" y="1847088"/>
            <a:ext cx="3145536" cy="256032"/>
          </a:xfrm>
          <a:prstGeom prst="rect">
            <a:avLst/>
          </a:prstGeom>
          <a:noFill/>
          <a:ln/>
        </p:spPr>
        <p:txBody>
          <a:bodyPr wrap="square" lIns="0" tIns="0" rIns="0" bIns="0" rtlCol="0" anchor="ctr"/>
          <a:lstStyle/>
          <a:p>
            <a:pPr indent="0" marL="0">
              <a:buNone/>
            </a:pPr>
            <a:r>
              <a:rPr lang="en-US" sz="750" b="1" spc="150" kern="0" dirty="0">
                <a:solidFill>
                  <a:srgbClr val="4A148C"/>
                </a:solidFill>
              </a:rPr>
              <a:t>5 — LERNQUALITAET &amp; TRANSFER</a:t>
            </a:r>
            <a:endParaRPr lang="en-US" sz="750" dirty="0"/>
          </a:p>
        </p:txBody>
      </p:sp>
      <p:sp>
        <p:nvSpPr>
          <p:cNvPr id="36" name="Text 34"/>
          <p:cNvSpPr/>
          <p:nvPr/>
        </p:nvSpPr>
        <p:spPr>
          <a:xfrm rot="-72000">
            <a:off x="8321040" y="2286000"/>
            <a:ext cx="3108960" cy="3154680"/>
          </a:xfrm>
          <a:prstGeom prst="rect">
            <a:avLst/>
          </a:prstGeom>
          <a:noFill/>
          <a:ln/>
        </p:spPr>
        <p:txBody>
          <a:bodyPr wrap="square" rtlCol="0" anchor="t"/>
          <a:lstStyle/>
          <a:p>
            <a:pPr indent="0" marL="0">
              <a:lnSpc>
                <a:spcPct val="140000"/>
              </a:lnSpc>
              <a:buNone/>
            </a:pPr>
            <a:r>
              <a:rPr lang="en-US" sz="1050" dirty="0">
                <a:solidFill>
                  <a:srgbClr val="1C1828"/>
                </a:solidFill>
              </a:rPr>
              <a:t>Wie koennen wir Mia, die viel Zeit investiert ohne zu merken ob sie Stoff wirklich verstanden oder nur wiedererkannt hat, dabei helfen die Qualitaet ihres Lernens waehrend des Lernens zu spueren — damit sie in der Pruefung nicht an der Anwendung scheitert sondern Wissen wirklich abrufen kann?</a:t>
            </a:r>
            <a:endParaRPr lang="en-US" sz="1050" dirty="0"/>
          </a:p>
        </p:txBody>
      </p:sp>
      <p:sp>
        <p:nvSpPr>
          <p:cNvPr id="37" name="Shape 35"/>
          <p:cNvSpPr/>
          <p:nvPr/>
        </p:nvSpPr>
        <p:spPr>
          <a:xfrm>
            <a:off x="0" y="6565392"/>
            <a:ext cx="12161520" cy="292608"/>
          </a:xfrm>
          <a:prstGeom prst="rect">
            <a:avLst/>
          </a:prstGeom>
          <a:solidFill>
            <a:srgbClr val="0F2236"/>
          </a:solidFill>
          <a:ln w="12700">
            <a:solidFill>
              <a:srgbClr val="0F2236"/>
            </a:solidFill>
            <a:prstDash val="solid"/>
          </a:ln>
        </p:spPr>
      </p:sp>
      <p:sp>
        <p:nvSpPr>
          <p:cNvPr id="38" name="Text 36"/>
          <p:cNvSpPr/>
          <p:nvPr/>
        </p:nvSpPr>
        <p:spPr>
          <a:xfrm>
            <a:off x="365760" y="6565392"/>
            <a:ext cx="11430000" cy="292608"/>
          </a:xfrm>
          <a:prstGeom prst="rect">
            <a:avLst/>
          </a:prstGeom>
          <a:noFill/>
          <a:ln/>
        </p:spPr>
        <p:txBody>
          <a:bodyPr wrap="square" lIns="0" tIns="0" rIns="0" bIns="0" rtlCol="0" anchor="ctr"/>
          <a:lstStyle/>
          <a:p>
            <a:pPr indent="0" marL="0">
              <a:buNone/>
            </a:pPr>
            <a:r>
              <a:rPr lang="en-US" sz="750" dirty="0">
                <a:solidFill>
                  <a:srgbClr val="6B96B8"/>
                </a:solidFill>
              </a:rPr>
              <a:t>Phase 3 — Standpunkt definieren  |  Top 3 WKW-Fragen  |  Persona: Mia</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2026-03-19T10:23:33Z</dcterms:created>
  <dcterms:modified xsi:type="dcterms:W3CDTF">2026-03-19T10:23:33Z</dcterms:modified>
</cp:coreProperties>
</file>
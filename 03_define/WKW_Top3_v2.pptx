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C5E"/>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12700">
            <a:solidFill>
              <a:srgbClr val="FFFFFF">
                <a:alpha val="15000"/>
              </a:srgbClr>
            </a:solidFill>
            <a:prstDash val="solid"/>
          </a:ln>
        </p:spPr>
      </p:sp>
      <p:sp>
        <p:nvSpPr>
          <p:cNvPr id="3" name="Shape 1"/>
          <p:cNvSpPr/>
          <p:nvPr/>
        </p:nvSpPr>
        <p:spPr>
          <a:xfrm>
            <a:off x="914400" y="0"/>
            <a:ext cx="0" cy="6858000"/>
          </a:xfrm>
          <a:prstGeom prst="line">
            <a:avLst/>
          </a:prstGeom>
          <a:noFill/>
          <a:ln w="12700">
            <a:solidFill>
              <a:srgbClr val="FFFFFF">
                <a:alpha val="15000"/>
              </a:srgbClr>
            </a:solidFill>
            <a:prstDash val="solid"/>
          </a:ln>
        </p:spPr>
      </p:sp>
      <p:sp>
        <p:nvSpPr>
          <p:cNvPr id="4" name="Shape 2"/>
          <p:cNvSpPr/>
          <p:nvPr/>
        </p:nvSpPr>
        <p:spPr>
          <a:xfrm>
            <a:off x="1828800" y="0"/>
            <a:ext cx="0" cy="6858000"/>
          </a:xfrm>
          <a:prstGeom prst="line">
            <a:avLst/>
          </a:prstGeom>
          <a:noFill/>
          <a:ln w="12700">
            <a:solidFill>
              <a:srgbClr val="FFFFFF">
                <a:alpha val="15000"/>
              </a:srgbClr>
            </a:solidFill>
            <a:prstDash val="solid"/>
          </a:ln>
        </p:spPr>
      </p:sp>
      <p:sp>
        <p:nvSpPr>
          <p:cNvPr id="5" name="Shape 3"/>
          <p:cNvSpPr/>
          <p:nvPr/>
        </p:nvSpPr>
        <p:spPr>
          <a:xfrm>
            <a:off x="2743200" y="0"/>
            <a:ext cx="0" cy="6858000"/>
          </a:xfrm>
          <a:prstGeom prst="line">
            <a:avLst/>
          </a:prstGeom>
          <a:noFill/>
          <a:ln w="12700">
            <a:solidFill>
              <a:srgbClr val="FFFFFF">
                <a:alpha val="15000"/>
              </a:srgbClr>
            </a:solidFill>
            <a:prstDash val="solid"/>
          </a:ln>
        </p:spPr>
      </p:sp>
      <p:sp>
        <p:nvSpPr>
          <p:cNvPr id="6" name="Shape 4"/>
          <p:cNvSpPr/>
          <p:nvPr/>
        </p:nvSpPr>
        <p:spPr>
          <a:xfrm>
            <a:off x="3657600" y="0"/>
            <a:ext cx="0" cy="6858000"/>
          </a:xfrm>
          <a:prstGeom prst="line">
            <a:avLst/>
          </a:prstGeom>
          <a:noFill/>
          <a:ln w="12700">
            <a:solidFill>
              <a:srgbClr val="FFFFFF">
                <a:alpha val="15000"/>
              </a:srgbClr>
            </a:solidFill>
            <a:prstDash val="solid"/>
          </a:ln>
        </p:spPr>
      </p:sp>
      <p:sp>
        <p:nvSpPr>
          <p:cNvPr id="7" name="Shape 5"/>
          <p:cNvSpPr/>
          <p:nvPr/>
        </p:nvSpPr>
        <p:spPr>
          <a:xfrm>
            <a:off x="4572000" y="0"/>
            <a:ext cx="0" cy="6858000"/>
          </a:xfrm>
          <a:prstGeom prst="line">
            <a:avLst/>
          </a:prstGeom>
          <a:noFill/>
          <a:ln w="12700">
            <a:solidFill>
              <a:srgbClr val="FFFFFF">
                <a:alpha val="15000"/>
              </a:srgbClr>
            </a:solidFill>
            <a:prstDash val="solid"/>
          </a:ln>
        </p:spPr>
      </p:sp>
      <p:sp>
        <p:nvSpPr>
          <p:cNvPr id="8" name="Shape 6"/>
          <p:cNvSpPr/>
          <p:nvPr/>
        </p:nvSpPr>
        <p:spPr>
          <a:xfrm>
            <a:off x="5486400" y="0"/>
            <a:ext cx="0" cy="6858000"/>
          </a:xfrm>
          <a:prstGeom prst="line">
            <a:avLst/>
          </a:prstGeom>
          <a:noFill/>
          <a:ln w="12700">
            <a:solidFill>
              <a:srgbClr val="FFFFFF">
                <a:alpha val="15000"/>
              </a:srgbClr>
            </a:solidFill>
            <a:prstDash val="solid"/>
          </a:ln>
        </p:spPr>
      </p:sp>
      <p:sp>
        <p:nvSpPr>
          <p:cNvPr id="9" name="Shape 7"/>
          <p:cNvSpPr/>
          <p:nvPr/>
        </p:nvSpPr>
        <p:spPr>
          <a:xfrm>
            <a:off x="6400800" y="0"/>
            <a:ext cx="0" cy="6858000"/>
          </a:xfrm>
          <a:prstGeom prst="line">
            <a:avLst/>
          </a:prstGeom>
          <a:noFill/>
          <a:ln w="12700">
            <a:solidFill>
              <a:srgbClr val="FFFFFF">
                <a:alpha val="15000"/>
              </a:srgbClr>
            </a:solidFill>
            <a:prstDash val="solid"/>
          </a:ln>
        </p:spPr>
      </p:sp>
      <p:sp>
        <p:nvSpPr>
          <p:cNvPr id="10" name="Shape 8"/>
          <p:cNvSpPr/>
          <p:nvPr/>
        </p:nvSpPr>
        <p:spPr>
          <a:xfrm>
            <a:off x="7315200" y="0"/>
            <a:ext cx="0" cy="6858000"/>
          </a:xfrm>
          <a:prstGeom prst="line">
            <a:avLst/>
          </a:prstGeom>
          <a:noFill/>
          <a:ln w="12700">
            <a:solidFill>
              <a:srgbClr val="FFFFFF">
                <a:alpha val="15000"/>
              </a:srgbClr>
            </a:solidFill>
            <a:prstDash val="solid"/>
          </a:ln>
        </p:spPr>
      </p:sp>
      <p:sp>
        <p:nvSpPr>
          <p:cNvPr id="11" name="Shape 9"/>
          <p:cNvSpPr/>
          <p:nvPr/>
        </p:nvSpPr>
        <p:spPr>
          <a:xfrm>
            <a:off x="8229600" y="0"/>
            <a:ext cx="0" cy="6858000"/>
          </a:xfrm>
          <a:prstGeom prst="line">
            <a:avLst/>
          </a:prstGeom>
          <a:noFill/>
          <a:ln w="12700">
            <a:solidFill>
              <a:srgbClr val="FFFFFF">
                <a:alpha val="15000"/>
              </a:srgbClr>
            </a:solidFill>
            <a:prstDash val="solid"/>
          </a:ln>
        </p:spPr>
      </p:sp>
      <p:sp>
        <p:nvSpPr>
          <p:cNvPr id="12" name="Shape 10"/>
          <p:cNvSpPr/>
          <p:nvPr/>
        </p:nvSpPr>
        <p:spPr>
          <a:xfrm>
            <a:off x="9144000" y="0"/>
            <a:ext cx="0" cy="6858000"/>
          </a:xfrm>
          <a:prstGeom prst="line">
            <a:avLst/>
          </a:prstGeom>
          <a:noFill/>
          <a:ln w="12700">
            <a:solidFill>
              <a:srgbClr val="FFFFFF">
                <a:alpha val="15000"/>
              </a:srgbClr>
            </a:solidFill>
            <a:prstDash val="solid"/>
          </a:ln>
        </p:spPr>
      </p:sp>
      <p:sp>
        <p:nvSpPr>
          <p:cNvPr id="13" name="Shape 11"/>
          <p:cNvSpPr/>
          <p:nvPr/>
        </p:nvSpPr>
        <p:spPr>
          <a:xfrm>
            <a:off x="10058400" y="0"/>
            <a:ext cx="0" cy="6858000"/>
          </a:xfrm>
          <a:prstGeom prst="line">
            <a:avLst/>
          </a:prstGeom>
          <a:noFill/>
          <a:ln w="12700">
            <a:solidFill>
              <a:srgbClr val="FFFFFF">
                <a:alpha val="15000"/>
              </a:srgbClr>
            </a:solidFill>
            <a:prstDash val="solid"/>
          </a:ln>
        </p:spPr>
      </p:sp>
      <p:sp>
        <p:nvSpPr>
          <p:cNvPr id="14" name="Shape 12"/>
          <p:cNvSpPr/>
          <p:nvPr/>
        </p:nvSpPr>
        <p:spPr>
          <a:xfrm>
            <a:off x="10972800" y="0"/>
            <a:ext cx="0" cy="6858000"/>
          </a:xfrm>
          <a:prstGeom prst="line">
            <a:avLst/>
          </a:prstGeom>
          <a:noFill/>
          <a:ln w="12700">
            <a:solidFill>
              <a:srgbClr val="FFFFFF">
                <a:alpha val="15000"/>
              </a:srgbClr>
            </a:solidFill>
            <a:prstDash val="solid"/>
          </a:ln>
        </p:spPr>
      </p:sp>
      <p:sp>
        <p:nvSpPr>
          <p:cNvPr id="15" name="Shape 13"/>
          <p:cNvSpPr/>
          <p:nvPr/>
        </p:nvSpPr>
        <p:spPr>
          <a:xfrm>
            <a:off x="11887200" y="0"/>
            <a:ext cx="0" cy="6858000"/>
          </a:xfrm>
          <a:prstGeom prst="line">
            <a:avLst/>
          </a:prstGeom>
          <a:noFill/>
          <a:ln w="12700">
            <a:solidFill>
              <a:srgbClr val="FFFFFF">
                <a:alpha val="15000"/>
              </a:srgbClr>
            </a:solidFill>
            <a:prstDash val="solid"/>
          </a:ln>
        </p:spPr>
      </p:sp>
      <p:sp>
        <p:nvSpPr>
          <p:cNvPr id="16" name="Text 14"/>
          <p:cNvSpPr/>
          <p:nvPr/>
        </p:nvSpPr>
        <p:spPr>
          <a:xfrm>
            <a:off x="365760" y="164592"/>
            <a:ext cx="6400800" cy="274320"/>
          </a:xfrm>
          <a:prstGeom prst="rect">
            <a:avLst/>
          </a:prstGeom>
          <a:noFill/>
          <a:ln/>
        </p:spPr>
        <p:txBody>
          <a:bodyPr wrap="square" lIns="0" tIns="0" rIns="0" bIns="0" rtlCol="0" anchor="ctr"/>
          <a:lstStyle/>
          <a:p>
            <a:pPr indent="0" marL="0">
              <a:buNone/>
            </a:pPr>
            <a:r>
              <a:rPr lang="en-US" sz="1000" b="1" spc="400" kern="0" dirty="0">
                <a:solidFill>
                  <a:srgbClr val="A8C4E0"/>
                </a:solidFill>
              </a:rPr>
              <a:t>WIE KOENNTEN WIR —</a:t>
            </a:r>
            <a:endParaRPr lang="en-US" sz="1000" dirty="0"/>
          </a:p>
        </p:txBody>
      </p:sp>
      <p:sp>
        <p:nvSpPr>
          <p:cNvPr id="17" name="Text 15"/>
          <p:cNvSpPr/>
          <p:nvPr/>
        </p:nvSpPr>
        <p:spPr>
          <a:xfrm>
            <a:off x="365760" y="402336"/>
            <a:ext cx="6400800" cy="347472"/>
          </a:xfrm>
          <a:prstGeom prst="rect">
            <a:avLst/>
          </a:prstGeom>
          <a:noFill/>
          <a:ln/>
        </p:spPr>
        <p:txBody>
          <a:bodyPr wrap="square" lIns="0" tIns="0" rIns="0" bIns="0" rtlCol="0" anchor="ctr"/>
          <a:lstStyle/>
          <a:p>
            <a:pPr indent="0" marL="0">
              <a:buNone/>
            </a:pPr>
            <a:r>
              <a:rPr lang="en-US" sz="1700" b="1" dirty="0">
                <a:solidFill>
                  <a:srgbClr val="FFFFFF"/>
                </a:solidFill>
              </a:rPr>
              <a:t>Top 3 WKW-Fragen fuer die Ideation</a:t>
            </a:r>
            <a:endParaRPr lang="en-US" sz="1700" dirty="0"/>
          </a:p>
        </p:txBody>
      </p:sp>
      <p:sp>
        <p:nvSpPr>
          <p:cNvPr id="18" name="Text 16"/>
          <p:cNvSpPr/>
          <p:nvPr/>
        </p:nvSpPr>
        <p:spPr>
          <a:xfrm>
            <a:off x="6400800" y="256032"/>
            <a:ext cx="5394960" cy="274320"/>
          </a:xfrm>
          <a:prstGeom prst="rect">
            <a:avLst/>
          </a:prstGeom>
          <a:noFill/>
          <a:ln/>
        </p:spPr>
        <p:txBody>
          <a:bodyPr wrap="square" lIns="0" tIns="0" rIns="0" bIns="0" rtlCol="0" anchor="ctr"/>
          <a:lstStyle/>
          <a:p>
            <a:pPr algn="r" indent="0" marL="0">
              <a:buNone/>
            </a:pPr>
            <a:r>
              <a:rPr lang="en-US" sz="900" dirty="0">
                <a:solidFill>
                  <a:srgbClr val="6B96B8"/>
                </a:solidFill>
              </a:rPr>
              <a:t>Persona: Mia  |  DTconsulting  |  2026</a:t>
            </a:r>
            <a:endParaRPr lang="en-US" sz="900" dirty="0"/>
          </a:p>
        </p:txBody>
      </p:sp>
      <p:sp>
        <p:nvSpPr>
          <p:cNvPr id="19" name="Shape 17"/>
          <p:cNvSpPr/>
          <p:nvPr/>
        </p:nvSpPr>
        <p:spPr>
          <a:xfrm rot="-90000">
            <a:off x="640080" y="960120"/>
            <a:ext cx="3474720" cy="5120640"/>
          </a:xfrm>
          <a:prstGeom prst="rect">
            <a:avLst/>
          </a:prstGeom>
          <a:solidFill>
            <a:srgbClr val="C9A800">
              <a:alpha val="28000"/>
            </a:srgbClr>
          </a:solidFill>
          <a:ln w="12700">
            <a:solidFill>
              <a:srgbClr val="C9A800">
                <a:alpha val="28000"/>
              </a:srgbClr>
            </a:solidFill>
            <a:prstDash val="solid"/>
          </a:ln>
        </p:spPr>
      </p:sp>
      <p:sp>
        <p:nvSpPr>
          <p:cNvPr id="20" name="Shape 18"/>
          <p:cNvSpPr/>
          <p:nvPr/>
        </p:nvSpPr>
        <p:spPr>
          <a:xfrm rot="-90000">
            <a:off x="548640" y="868680"/>
            <a:ext cx="3474720" cy="5120640"/>
          </a:xfrm>
          <a:prstGeom prst="rect">
            <a:avLst/>
          </a:prstGeom>
          <a:solidFill>
            <a:srgbClr val="FFF176"/>
          </a:solidFill>
          <a:ln w="12700">
            <a:solidFill>
              <a:srgbClr val="C9A800">
                <a:alpha val="45000"/>
              </a:srgbClr>
            </a:solidFill>
            <a:prstDash val="solid"/>
          </a:ln>
          <a:effectLst>
            <a:outerShdw sx="100000" sy="100000" kx="0" ky="0" algn="bl" rotWithShape="0" blurRad="127000" dist="50800" dir="8100000">
              <a:srgbClr val="000000">
                <a:alpha val="18000"/>
              </a:srgbClr>
            </a:outerShdw>
          </a:effectLst>
        </p:spPr>
      </p:sp>
      <p:sp>
        <p:nvSpPr>
          <p:cNvPr id="21" name="Shape 19"/>
          <p:cNvSpPr/>
          <p:nvPr/>
        </p:nvSpPr>
        <p:spPr>
          <a:xfrm rot="-90000">
            <a:off x="3675888" y="868680"/>
            <a:ext cx="347472" cy="347472"/>
          </a:xfrm>
          <a:prstGeom prst="rect">
            <a:avLst/>
          </a:prstGeom>
          <a:solidFill>
            <a:srgbClr val="C9A800">
              <a:alpha val="58000"/>
            </a:srgbClr>
          </a:solidFill>
          <a:ln w="12700">
            <a:solidFill>
              <a:srgbClr val="C9A800">
                <a:alpha val="58000"/>
              </a:srgbClr>
            </a:solidFill>
            <a:prstDash val="solid"/>
          </a:ln>
        </p:spPr>
      </p:sp>
      <p:sp>
        <p:nvSpPr>
          <p:cNvPr id="22" name="Shape 20"/>
          <p:cNvSpPr/>
          <p:nvPr/>
        </p:nvSpPr>
        <p:spPr>
          <a:xfrm rot="-90000">
            <a:off x="548640" y="868680"/>
            <a:ext cx="3474720" cy="347472"/>
          </a:xfrm>
          <a:prstGeom prst="rect">
            <a:avLst/>
          </a:prstGeom>
          <a:solidFill>
            <a:srgbClr val="C9A800">
              <a:alpha val="52000"/>
            </a:srgbClr>
          </a:solidFill>
          <a:ln w="12700">
            <a:solidFill>
              <a:srgbClr val="C9A800">
                <a:alpha val="52000"/>
              </a:srgbClr>
            </a:solidFill>
            <a:prstDash val="solid"/>
          </a:ln>
        </p:spPr>
      </p:sp>
      <p:sp>
        <p:nvSpPr>
          <p:cNvPr id="23" name="Text 21"/>
          <p:cNvSpPr/>
          <p:nvPr/>
        </p:nvSpPr>
        <p:spPr>
          <a:xfrm rot="-90000">
            <a:off x="694944" y="923544"/>
            <a:ext cx="3182112" cy="237744"/>
          </a:xfrm>
          <a:prstGeom prst="rect">
            <a:avLst/>
          </a:prstGeom>
          <a:noFill/>
          <a:ln/>
        </p:spPr>
        <p:txBody>
          <a:bodyPr wrap="square" lIns="0" tIns="0" rIns="0" bIns="0" rtlCol="0" anchor="ctr"/>
          <a:lstStyle/>
          <a:p>
            <a:pPr indent="0" marL="0">
              <a:buNone/>
            </a:pPr>
            <a:r>
              <a:rPr lang="en-US" sz="700" b="1" spc="150" kern="0" dirty="0">
                <a:solidFill>
                  <a:srgbClr val="7A6200"/>
                </a:solidFill>
              </a:rPr>
              <a:t>1 — LERNFORTSCHRITT &amp; UNSICHTBARE ZIELE</a:t>
            </a:r>
            <a:endParaRPr lang="en-US" sz="700" dirty="0"/>
          </a:p>
        </p:txBody>
      </p:sp>
      <p:sp>
        <p:nvSpPr>
          <p:cNvPr id="24" name="Text 22"/>
          <p:cNvSpPr/>
          <p:nvPr/>
        </p:nvSpPr>
        <p:spPr>
          <a:xfrm rot="-90000">
            <a:off x="713232" y="1325880"/>
            <a:ext cx="3145536" cy="1783080"/>
          </a:xfrm>
          <a:prstGeom prst="rect">
            <a:avLst/>
          </a:prstGeom>
          <a:noFill/>
          <a:ln/>
        </p:spPr>
        <p:txBody>
          <a:bodyPr wrap="square" rtlCol="0" anchor="t"/>
          <a:lstStyle/>
          <a:p>
            <a:pPr indent="0" marL="0">
              <a:lnSpc>
                <a:spcPct val="135000"/>
              </a:lnSpc>
              <a:buNone/>
            </a:pPr>
            <a:r>
              <a:rPr lang="en-US" sz="950" dirty="0">
                <a:solidFill>
                  <a:srgbClr val="1C1828"/>
                </a:solidFill>
              </a:rPr>
              <a:t>Wie koennen wir Mia, die nicht weiss wo sie im Lernprozess steht weil die Ziele der Pruefung fuer sie unsichtbar sind, dabei helfen ihren eigenen Fortschritt einzuschaetzen — so dass sie aufhoert sich an anderen zu orientieren und anfaengt sich an sich selbst zu messen?</a:t>
            </a:r>
            <a:endParaRPr lang="en-US" sz="950" dirty="0"/>
          </a:p>
        </p:txBody>
      </p:sp>
      <p:sp>
        <p:nvSpPr>
          <p:cNvPr id="25" name="Shape 23"/>
          <p:cNvSpPr/>
          <p:nvPr/>
        </p:nvSpPr>
        <p:spPr>
          <a:xfrm rot="-90000">
            <a:off x="731520" y="3136392"/>
            <a:ext cx="3108960" cy="0"/>
          </a:xfrm>
          <a:prstGeom prst="line">
            <a:avLst/>
          </a:prstGeom>
          <a:noFill/>
          <a:ln w="12700">
            <a:solidFill>
              <a:srgbClr val="C9A800">
                <a:alpha val="60000"/>
              </a:srgbClr>
            </a:solidFill>
            <a:prstDash val="solid"/>
          </a:ln>
        </p:spPr>
      </p:sp>
      <p:sp>
        <p:nvSpPr>
          <p:cNvPr id="26" name="Text 24"/>
          <p:cNvSpPr/>
          <p:nvPr/>
        </p:nvSpPr>
        <p:spPr>
          <a:xfrm rot="-90000">
            <a:off x="713232" y="3273552"/>
            <a:ext cx="3145536" cy="201168"/>
          </a:xfrm>
          <a:prstGeom prst="rect">
            <a:avLst/>
          </a:prstGeom>
          <a:noFill/>
          <a:ln/>
        </p:spPr>
        <p:txBody>
          <a:bodyPr wrap="square" lIns="0" tIns="0" rIns="0" bIns="0" rtlCol="0" anchor="ctr"/>
          <a:lstStyle/>
          <a:p>
            <a:pPr indent="0" marL="0">
              <a:buNone/>
            </a:pPr>
            <a:r>
              <a:rPr lang="en-US" sz="700" b="1" spc="150" kern="0" dirty="0">
                <a:solidFill>
                  <a:srgbClr val="8B4A00"/>
                </a:solidFill>
              </a:rPr>
              <a:t>⚡  PAIN</a:t>
            </a:r>
            <a:endParaRPr lang="en-US" sz="700" dirty="0"/>
          </a:p>
        </p:txBody>
      </p:sp>
      <p:sp>
        <p:nvSpPr>
          <p:cNvPr id="27" name="Text 25"/>
          <p:cNvSpPr/>
          <p:nvPr/>
        </p:nvSpPr>
        <p:spPr>
          <a:xfrm rot="-90000">
            <a:off x="713232" y="3474720"/>
            <a:ext cx="3145536" cy="502920"/>
          </a:xfrm>
          <a:prstGeom prst="rect">
            <a:avLst/>
          </a:prstGeom>
          <a:noFill/>
          <a:ln/>
        </p:spPr>
        <p:txBody>
          <a:bodyPr wrap="square" rtlCol="0" anchor="t"/>
          <a:lstStyle/>
          <a:p>
            <a:pPr indent="0" marL="0">
              <a:lnSpc>
                <a:spcPct val="130000"/>
              </a:lnSpc>
              <a:buNone/>
            </a:pPr>
            <a:r>
              <a:rPr lang="en-US" sz="1100" b="1" dirty="0">
                <a:solidFill>
                  <a:srgbClr val="8B4A00"/>
                </a:solidFill>
              </a:rPr>
              <a:t>„</a:t>
            </a:r>
            <a:pPr indent="0" marL="0">
              <a:lnSpc>
                <a:spcPct val="130000"/>
              </a:lnSpc>
              <a:buNone/>
            </a:pPr>
            <a:r>
              <a:rPr lang="en-US" sz="850" i="1" dirty="0">
                <a:solidFill>
                  <a:srgbClr val="8B4A00"/>
                </a:solidFill>
              </a:rPr>
              <a:t>Weiss nicht wo sie im Lernprozess steht — die Ziele der Pruefung sind fuer sie unsichtbar</a:t>
            </a:r>
            <a:pPr indent="0" marL="0">
              <a:lnSpc>
                <a:spcPct val="130000"/>
              </a:lnSpc>
              <a:buNone/>
            </a:pPr>
            <a:r>
              <a:rPr lang="en-US" sz="1100" b="1" dirty="0">
                <a:solidFill>
                  <a:srgbClr val="8B4A00"/>
                </a:solidFill>
              </a:rPr>
              <a:t>“</a:t>
            </a:r>
            <a:endParaRPr lang="en-US" sz="1100" dirty="0"/>
          </a:p>
        </p:txBody>
      </p:sp>
      <p:sp>
        <p:nvSpPr>
          <p:cNvPr id="28" name="Shape 26"/>
          <p:cNvSpPr/>
          <p:nvPr/>
        </p:nvSpPr>
        <p:spPr>
          <a:xfrm rot="-90000">
            <a:off x="731520" y="3995928"/>
            <a:ext cx="3108960" cy="0"/>
          </a:xfrm>
          <a:prstGeom prst="line">
            <a:avLst/>
          </a:prstGeom>
          <a:noFill/>
          <a:ln w="12700">
            <a:solidFill>
              <a:srgbClr val="C9A800">
                <a:alpha val="45000"/>
              </a:srgbClr>
            </a:solidFill>
            <a:prstDash val="solid"/>
          </a:ln>
        </p:spPr>
      </p:sp>
      <p:sp>
        <p:nvSpPr>
          <p:cNvPr id="29" name="Text 27"/>
          <p:cNvSpPr/>
          <p:nvPr/>
        </p:nvSpPr>
        <p:spPr>
          <a:xfrm rot="-90000">
            <a:off x="713232" y="4069080"/>
            <a:ext cx="3145536" cy="201168"/>
          </a:xfrm>
          <a:prstGeom prst="rect">
            <a:avLst/>
          </a:prstGeom>
          <a:noFill/>
          <a:ln/>
        </p:spPr>
        <p:txBody>
          <a:bodyPr wrap="square" lIns="0" tIns="0" rIns="0" bIns="0" rtlCol="0" anchor="ctr"/>
          <a:lstStyle/>
          <a:p>
            <a:pPr indent="0" marL="0">
              <a:buNone/>
            </a:pPr>
            <a:r>
              <a:rPr lang="en-US" sz="700" b="1" spc="150" kern="0" dirty="0">
                <a:solidFill>
                  <a:srgbClr val="1A5C3A"/>
                </a:solidFill>
              </a:rPr>
              <a:t>♥  GAIN</a:t>
            </a:r>
            <a:endParaRPr lang="en-US" sz="700" dirty="0"/>
          </a:p>
        </p:txBody>
      </p:sp>
      <p:sp>
        <p:nvSpPr>
          <p:cNvPr id="30" name="Text 28"/>
          <p:cNvSpPr/>
          <p:nvPr/>
        </p:nvSpPr>
        <p:spPr>
          <a:xfrm rot="-90000">
            <a:off x="713232" y="4270248"/>
            <a:ext cx="3145536" cy="502920"/>
          </a:xfrm>
          <a:prstGeom prst="rect">
            <a:avLst/>
          </a:prstGeom>
          <a:noFill/>
          <a:ln/>
        </p:spPr>
        <p:txBody>
          <a:bodyPr wrap="square" rtlCol="0" anchor="t"/>
          <a:lstStyle/>
          <a:p>
            <a:pPr indent="0" marL="0">
              <a:lnSpc>
                <a:spcPct val="130000"/>
              </a:lnSpc>
              <a:buNone/>
            </a:pPr>
            <a:r>
              <a:rPr lang="en-US" sz="1100" b="1" dirty="0">
                <a:solidFill>
                  <a:srgbClr val="1A5C3A"/>
                </a:solidFill>
              </a:rPr>
              <a:t>„</a:t>
            </a:r>
            <a:pPr indent="0" marL="0">
              <a:lnSpc>
                <a:spcPct val="130000"/>
              </a:lnSpc>
              <a:buNone/>
            </a:pPr>
            <a:r>
              <a:rPr lang="en-US" sz="850" i="1" dirty="0">
                <a:solidFill>
                  <a:srgbClr val="1A5C3A"/>
                </a:solidFill>
              </a:rPr>
              <a:t>Ihren eigenen Fortschritt einschaetzen koennen — ohne andere als Massstab zu benoetigen</a:t>
            </a:r>
            <a:pPr indent="0" marL="0">
              <a:lnSpc>
                <a:spcPct val="130000"/>
              </a:lnSpc>
              <a:buNone/>
            </a:pPr>
            <a:r>
              <a:rPr lang="en-US" sz="1100" b="1" dirty="0">
                <a:solidFill>
                  <a:srgbClr val="1A5C3A"/>
                </a:solidFill>
              </a:rPr>
              <a:t>“</a:t>
            </a:r>
            <a:endParaRPr lang="en-US" sz="1100" dirty="0"/>
          </a:p>
        </p:txBody>
      </p:sp>
      <p:sp>
        <p:nvSpPr>
          <p:cNvPr id="31" name="Shape 29"/>
          <p:cNvSpPr/>
          <p:nvPr/>
        </p:nvSpPr>
        <p:spPr>
          <a:xfrm rot="42000">
            <a:off x="4434840" y="1097280"/>
            <a:ext cx="3474720" cy="5120640"/>
          </a:xfrm>
          <a:prstGeom prst="rect">
            <a:avLst/>
          </a:prstGeom>
          <a:solidFill>
            <a:srgbClr val="00838F">
              <a:alpha val="28000"/>
            </a:srgbClr>
          </a:solidFill>
          <a:ln w="12700">
            <a:solidFill>
              <a:srgbClr val="00838F">
                <a:alpha val="28000"/>
              </a:srgbClr>
            </a:solidFill>
            <a:prstDash val="solid"/>
          </a:ln>
        </p:spPr>
      </p:sp>
      <p:sp>
        <p:nvSpPr>
          <p:cNvPr id="32" name="Shape 30"/>
          <p:cNvSpPr/>
          <p:nvPr/>
        </p:nvSpPr>
        <p:spPr>
          <a:xfrm rot="42000">
            <a:off x="4343400" y="1005840"/>
            <a:ext cx="3474720" cy="5120640"/>
          </a:xfrm>
          <a:prstGeom prst="rect">
            <a:avLst/>
          </a:prstGeom>
          <a:solidFill>
            <a:srgbClr val="80DEEA"/>
          </a:solidFill>
          <a:ln w="12700">
            <a:solidFill>
              <a:srgbClr val="00838F">
                <a:alpha val="45000"/>
              </a:srgbClr>
            </a:solidFill>
            <a:prstDash val="solid"/>
          </a:ln>
          <a:effectLst>
            <a:outerShdw sx="100000" sy="100000" kx="0" ky="0" algn="bl" rotWithShape="0" blurRad="127000" dist="50800" dir="8100000">
              <a:srgbClr val="000000">
                <a:alpha val="18000"/>
              </a:srgbClr>
            </a:outerShdw>
          </a:effectLst>
        </p:spPr>
      </p:sp>
      <p:sp>
        <p:nvSpPr>
          <p:cNvPr id="33" name="Shape 31"/>
          <p:cNvSpPr/>
          <p:nvPr/>
        </p:nvSpPr>
        <p:spPr>
          <a:xfrm rot="42000">
            <a:off x="7470648" y="1005840"/>
            <a:ext cx="347472" cy="347472"/>
          </a:xfrm>
          <a:prstGeom prst="rect">
            <a:avLst/>
          </a:prstGeom>
          <a:solidFill>
            <a:srgbClr val="00838F">
              <a:alpha val="58000"/>
            </a:srgbClr>
          </a:solidFill>
          <a:ln w="12700">
            <a:solidFill>
              <a:srgbClr val="00838F">
                <a:alpha val="58000"/>
              </a:srgbClr>
            </a:solidFill>
            <a:prstDash val="solid"/>
          </a:ln>
        </p:spPr>
      </p:sp>
      <p:sp>
        <p:nvSpPr>
          <p:cNvPr id="34" name="Shape 32"/>
          <p:cNvSpPr/>
          <p:nvPr/>
        </p:nvSpPr>
        <p:spPr>
          <a:xfrm rot="42000">
            <a:off x="4343400" y="1005840"/>
            <a:ext cx="3474720" cy="347472"/>
          </a:xfrm>
          <a:prstGeom prst="rect">
            <a:avLst/>
          </a:prstGeom>
          <a:solidFill>
            <a:srgbClr val="00838F">
              <a:alpha val="52000"/>
            </a:srgbClr>
          </a:solidFill>
          <a:ln w="12700">
            <a:solidFill>
              <a:srgbClr val="00838F">
                <a:alpha val="52000"/>
              </a:srgbClr>
            </a:solidFill>
            <a:prstDash val="solid"/>
          </a:ln>
        </p:spPr>
      </p:sp>
      <p:sp>
        <p:nvSpPr>
          <p:cNvPr id="35" name="Text 33"/>
          <p:cNvSpPr/>
          <p:nvPr/>
        </p:nvSpPr>
        <p:spPr>
          <a:xfrm rot="42000">
            <a:off x="4489704" y="1060704"/>
            <a:ext cx="3182112" cy="237744"/>
          </a:xfrm>
          <a:prstGeom prst="rect">
            <a:avLst/>
          </a:prstGeom>
          <a:noFill/>
          <a:ln/>
        </p:spPr>
        <p:txBody>
          <a:bodyPr wrap="square" lIns="0" tIns="0" rIns="0" bIns="0" rtlCol="0" anchor="ctr"/>
          <a:lstStyle/>
          <a:p>
            <a:pPr indent="0" marL="0">
              <a:buNone/>
            </a:pPr>
            <a:r>
              <a:rPr lang="en-US" sz="700" b="1" spc="150" kern="0" dirty="0">
                <a:solidFill>
                  <a:srgbClr val="00574B"/>
                </a:solidFill>
              </a:rPr>
              <a:t>3 — SOZIALES NETZWERK ALS RESSOURCE</a:t>
            </a:r>
            <a:endParaRPr lang="en-US" sz="700" dirty="0"/>
          </a:p>
        </p:txBody>
      </p:sp>
      <p:sp>
        <p:nvSpPr>
          <p:cNvPr id="36" name="Text 34"/>
          <p:cNvSpPr/>
          <p:nvPr/>
        </p:nvSpPr>
        <p:spPr>
          <a:xfrm rot="42000">
            <a:off x="4507992" y="1463040"/>
            <a:ext cx="3145536" cy="1783080"/>
          </a:xfrm>
          <a:prstGeom prst="rect">
            <a:avLst/>
          </a:prstGeom>
          <a:noFill/>
          <a:ln/>
        </p:spPr>
        <p:txBody>
          <a:bodyPr wrap="square" rtlCol="0" anchor="t"/>
          <a:lstStyle/>
          <a:p>
            <a:pPr indent="0" marL="0">
              <a:lnSpc>
                <a:spcPct val="135000"/>
              </a:lnSpc>
              <a:buNone/>
            </a:pPr>
            <a:r>
              <a:rPr lang="en-US" sz="950" dirty="0">
                <a:solidFill>
                  <a:srgbClr val="1C1828"/>
                </a:solidFill>
              </a:rPr>
              <a:t>Wie koennen wir Mia, die Sicherheit durch soziale Bestaetigung sucht und ihre Gruppe als einzigen Orientierungsanker nutzt, dabei helfen den sozialen Vergleich von kollektiver Panik in echtes gemeinsames Wissen zu verwandeln?</a:t>
            </a:r>
            <a:endParaRPr lang="en-US" sz="950" dirty="0"/>
          </a:p>
        </p:txBody>
      </p:sp>
      <p:sp>
        <p:nvSpPr>
          <p:cNvPr id="37" name="Shape 35"/>
          <p:cNvSpPr/>
          <p:nvPr/>
        </p:nvSpPr>
        <p:spPr>
          <a:xfrm rot="42000">
            <a:off x="4526280" y="3273552"/>
            <a:ext cx="3108960" cy="0"/>
          </a:xfrm>
          <a:prstGeom prst="line">
            <a:avLst/>
          </a:prstGeom>
          <a:noFill/>
          <a:ln w="12700">
            <a:solidFill>
              <a:srgbClr val="00838F">
                <a:alpha val="60000"/>
              </a:srgbClr>
            </a:solidFill>
            <a:prstDash val="solid"/>
          </a:ln>
        </p:spPr>
      </p:sp>
      <p:sp>
        <p:nvSpPr>
          <p:cNvPr id="38" name="Text 36"/>
          <p:cNvSpPr/>
          <p:nvPr/>
        </p:nvSpPr>
        <p:spPr>
          <a:xfrm rot="42000">
            <a:off x="4507992" y="3410712"/>
            <a:ext cx="3145536" cy="201168"/>
          </a:xfrm>
          <a:prstGeom prst="rect">
            <a:avLst/>
          </a:prstGeom>
          <a:noFill/>
          <a:ln/>
        </p:spPr>
        <p:txBody>
          <a:bodyPr wrap="square" lIns="0" tIns="0" rIns="0" bIns="0" rtlCol="0" anchor="ctr"/>
          <a:lstStyle/>
          <a:p>
            <a:pPr indent="0" marL="0">
              <a:buNone/>
            </a:pPr>
            <a:r>
              <a:rPr lang="en-US" sz="700" b="1" spc="150" kern="0" dirty="0">
                <a:solidFill>
                  <a:srgbClr val="004D50"/>
                </a:solidFill>
              </a:rPr>
              <a:t>⚡  PAIN</a:t>
            </a:r>
            <a:endParaRPr lang="en-US" sz="700" dirty="0"/>
          </a:p>
        </p:txBody>
      </p:sp>
      <p:sp>
        <p:nvSpPr>
          <p:cNvPr id="39" name="Text 37"/>
          <p:cNvSpPr/>
          <p:nvPr/>
        </p:nvSpPr>
        <p:spPr>
          <a:xfrm rot="42000">
            <a:off x="4507992" y="3611880"/>
            <a:ext cx="3145536" cy="502920"/>
          </a:xfrm>
          <a:prstGeom prst="rect">
            <a:avLst/>
          </a:prstGeom>
          <a:noFill/>
          <a:ln/>
        </p:spPr>
        <p:txBody>
          <a:bodyPr wrap="square" rtlCol="0" anchor="t"/>
          <a:lstStyle/>
          <a:p>
            <a:pPr indent="0" marL="0">
              <a:lnSpc>
                <a:spcPct val="130000"/>
              </a:lnSpc>
              <a:buNone/>
            </a:pPr>
            <a:r>
              <a:rPr lang="en-US" sz="1100" b="1" dirty="0">
                <a:solidFill>
                  <a:srgbClr val="004D50"/>
                </a:solidFill>
              </a:rPr>
              <a:t>„</a:t>
            </a:r>
            <a:pPr indent="0" marL="0">
              <a:lnSpc>
                <a:spcPct val="130000"/>
              </a:lnSpc>
              <a:buNone/>
            </a:pPr>
            <a:r>
              <a:rPr lang="en-US" sz="850" i="1" dirty="0">
                <a:solidFill>
                  <a:srgbClr val="004D50"/>
                </a:solidFill>
              </a:rPr>
              <a:t>Kollektive Panik verstaerkt ihre eigene Unsicherheit — obwohl sie weiss dass alle nur raten</a:t>
            </a:r>
            <a:pPr indent="0" marL="0">
              <a:lnSpc>
                <a:spcPct val="130000"/>
              </a:lnSpc>
              <a:buNone/>
            </a:pPr>
            <a:r>
              <a:rPr lang="en-US" sz="1100" b="1" dirty="0">
                <a:solidFill>
                  <a:srgbClr val="004D50"/>
                </a:solidFill>
              </a:rPr>
              <a:t>“</a:t>
            </a:r>
            <a:endParaRPr lang="en-US" sz="1100" dirty="0"/>
          </a:p>
        </p:txBody>
      </p:sp>
      <p:sp>
        <p:nvSpPr>
          <p:cNvPr id="40" name="Shape 38"/>
          <p:cNvSpPr/>
          <p:nvPr/>
        </p:nvSpPr>
        <p:spPr>
          <a:xfrm rot="42000">
            <a:off x="4526280" y="4133088"/>
            <a:ext cx="3108960" cy="0"/>
          </a:xfrm>
          <a:prstGeom prst="line">
            <a:avLst/>
          </a:prstGeom>
          <a:noFill/>
          <a:ln w="12700">
            <a:solidFill>
              <a:srgbClr val="00838F">
                <a:alpha val="45000"/>
              </a:srgbClr>
            </a:solidFill>
            <a:prstDash val="solid"/>
          </a:ln>
        </p:spPr>
      </p:sp>
      <p:sp>
        <p:nvSpPr>
          <p:cNvPr id="41" name="Text 39"/>
          <p:cNvSpPr/>
          <p:nvPr/>
        </p:nvSpPr>
        <p:spPr>
          <a:xfrm rot="42000">
            <a:off x="4507992" y="4206240"/>
            <a:ext cx="3145536" cy="201168"/>
          </a:xfrm>
          <a:prstGeom prst="rect">
            <a:avLst/>
          </a:prstGeom>
          <a:noFill/>
          <a:ln/>
        </p:spPr>
        <p:txBody>
          <a:bodyPr wrap="square" lIns="0" tIns="0" rIns="0" bIns="0" rtlCol="0" anchor="ctr"/>
          <a:lstStyle/>
          <a:p>
            <a:pPr indent="0" marL="0">
              <a:buNone/>
            </a:pPr>
            <a:r>
              <a:rPr lang="en-US" sz="700" b="1" spc="150" kern="0" dirty="0">
                <a:solidFill>
                  <a:srgbClr val="004D50"/>
                </a:solidFill>
              </a:rPr>
              <a:t>♥  GAIN</a:t>
            </a:r>
            <a:endParaRPr lang="en-US" sz="700" dirty="0"/>
          </a:p>
        </p:txBody>
      </p:sp>
      <p:sp>
        <p:nvSpPr>
          <p:cNvPr id="42" name="Text 40"/>
          <p:cNvSpPr/>
          <p:nvPr/>
        </p:nvSpPr>
        <p:spPr>
          <a:xfrm rot="42000">
            <a:off x="4507992" y="4407408"/>
            <a:ext cx="3145536" cy="502920"/>
          </a:xfrm>
          <a:prstGeom prst="rect">
            <a:avLst/>
          </a:prstGeom>
          <a:noFill/>
          <a:ln/>
        </p:spPr>
        <p:txBody>
          <a:bodyPr wrap="square" rtlCol="0" anchor="t"/>
          <a:lstStyle/>
          <a:p>
            <a:pPr indent="0" marL="0">
              <a:lnSpc>
                <a:spcPct val="130000"/>
              </a:lnSpc>
              <a:buNone/>
            </a:pPr>
            <a:r>
              <a:rPr lang="en-US" sz="1100" b="1" dirty="0">
                <a:solidFill>
                  <a:srgbClr val="004D50"/>
                </a:solidFill>
              </a:rPr>
              <a:t>„</a:t>
            </a:r>
            <a:pPr indent="0" marL="0">
              <a:lnSpc>
                <a:spcPct val="130000"/>
              </a:lnSpc>
              <a:buNone/>
            </a:pPr>
            <a:r>
              <a:rPr lang="en-US" sz="850" i="1" dirty="0">
                <a:solidFill>
                  <a:srgbClr val="004D50"/>
                </a:solidFill>
              </a:rPr>
              <a:t>Die Gruppe als echte Wissensressource nutzen — nicht als Spiegel der eigenen Angst</a:t>
            </a:r>
            <a:pPr indent="0" marL="0">
              <a:lnSpc>
                <a:spcPct val="130000"/>
              </a:lnSpc>
              <a:buNone/>
            </a:pPr>
            <a:r>
              <a:rPr lang="en-US" sz="1100" b="1" dirty="0">
                <a:solidFill>
                  <a:srgbClr val="004D50"/>
                </a:solidFill>
              </a:rPr>
              <a:t>“</a:t>
            </a:r>
            <a:endParaRPr lang="en-US" sz="1100" dirty="0"/>
          </a:p>
        </p:txBody>
      </p:sp>
      <p:sp>
        <p:nvSpPr>
          <p:cNvPr id="43" name="Shape 41"/>
          <p:cNvSpPr/>
          <p:nvPr/>
        </p:nvSpPr>
        <p:spPr>
          <a:xfrm rot="-60000">
            <a:off x="8229600" y="960120"/>
            <a:ext cx="3474720" cy="5120640"/>
          </a:xfrm>
          <a:prstGeom prst="rect">
            <a:avLst/>
          </a:prstGeom>
          <a:solidFill>
            <a:srgbClr val="6A1B9A">
              <a:alpha val="28000"/>
            </a:srgbClr>
          </a:solidFill>
          <a:ln w="12700">
            <a:solidFill>
              <a:srgbClr val="6A1B9A">
                <a:alpha val="28000"/>
              </a:srgbClr>
            </a:solidFill>
            <a:prstDash val="solid"/>
          </a:ln>
        </p:spPr>
      </p:sp>
      <p:sp>
        <p:nvSpPr>
          <p:cNvPr id="44" name="Shape 42"/>
          <p:cNvSpPr/>
          <p:nvPr/>
        </p:nvSpPr>
        <p:spPr>
          <a:xfrm rot="-60000">
            <a:off x="8138160" y="868680"/>
            <a:ext cx="3474720" cy="5120640"/>
          </a:xfrm>
          <a:prstGeom prst="rect">
            <a:avLst/>
          </a:prstGeom>
          <a:solidFill>
            <a:srgbClr val="CE93D8"/>
          </a:solidFill>
          <a:ln w="12700">
            <a:solidFill>
              <a:srgbClr val="6A1B9A">
                <a:alpha val="45000"/>
              </a:srgbClr>
            </a:solidFill>
            <a:prstDash val="solid"/>
          </a:ln>
          <a:effectLst>
            <a:outerShdw sx="100000" sy="100000" kx="0" ky="0" algn="bl" rotWithShape="0" blurRad="127000" dist="50800" dir="8100000">
              <a:srgbClr val="000000">
                <a:alpha val="18000"/>
              </a:srgbClr>
            </a:outerShdw>
          </a:effectLst>
        </p:spPr>
      </p:sp>
      <p:sp>
        <p:nvSpPr>
          <p:cNvPr id="45" name="Shape 43"/>
          <p:cNvSpPr/>
          <p:nvPr/>
        </p:nvSpPr>
        <p:spPr>
          <a:xfrm rot="-60000">
            <a:off x="11265408" y="868680"/>
            <a:ext cx="347472" cy="347472"/>
          </a:xfrm>
          <a:prstGeom prst="rect">
            <a:avLst/>
          </a:prstGeom>
          <a:solidFill>
            <a:srgbClr val="6A1B9A">
              <a:alpha val="58000"/>
            </a:srgbClr>
          </a:solidFill>
          <a:ln w="12700">
            <a:solidFill>
              <a:srgbClr val="6A1B9A">
                <a:alpha val="58000"/>
              </a:srgbClr>
            </a:solidFill>
            <a:prstDash val="solid"/>
          </a:ln>
        </p:spPr>
      </p:sp>
      <p:sp>
        <p:nvSpPr>
          <p:cNvPr id="46" name="Shape 44"/>
          <p:cNvSpPr/>
          <p:nvPr/>
        </p:nvSpPr>
        <p:spPr>
          <a:xfrm rot="-60000">
            <a:off x="8138160" y="868680"/>
            <a:ext cx="3474720" cy="347472"/>
          </a:xfrm>
          <a:prstGeom prst="rect">
            <a:avLst/>
          </a:prstGeom>
          <a:solidFill>
            <a:srgbClr val="6A1B9A">
              <a:alpha val="52000"/>
            </a:srgbClr>
          </a:solidFill>
          <a:ln w="12700">
            <a:solidFill>
              <a:srgbClr val="6A1B9A">
                <a:alpha val="52000"/>
              </a:srgbClr>
            </a:solidFill>
            <a:prstDash val="solid"/>
          </a:ln>
        </p:spPr>
      </p:sp>
      <p:sp>
        <p:nvSpPr>
          <p:cNvPr id="47" name="Text 45"/>
          <p:cNvSpPr/>
          <p:nvPr/>
        </p:nvSpPr>
        <p:spPr>
          <a:xfrm rot="-60000">
            <a:off x="8284464" y="923544"/>
            <a:ext cx="3182112" cy="237744"/>
          </a:xfrm>
          <a:prstGeom prst="rect">
            <a:avLst/>
          </a:prstGeom>
          <a:noFill/>
          <a:ln/>
        </p:spPr>
        <p:txBody>
          <a:bodyPr wrap="square" lIns="0" tIns="0" rIns="0" bIns="0" rtlCol="0" anchor="ctr"/>
          <a:lstStyle/>
          <a:p>
            <a:pPr indent="0" marL="0">
              <a:buNone/>
            </a:pPr>
            <a:r>
              <a:rPr lang="en-US" sz="700" b="1" spc="150" kern="0" dirty="0">
                <a:solidFill>
                  <a:srgbClr val="4A148C"/>
                </a:solidFill>
              </a:rPr>
              <a:t>5 — LERNQUALITAET &amp; TRANSFER</a:t>
            </a:r>
            <a:endParaRPr lang="en-US" sz="700" dirty="0"/>
          </a:p>
        </p:txBody>
      </p:sp>
      <p:sp>
        <p:nvSpPr>
          <p:cNvPr id="48" name="Text 46"/>
          <p:cNvSpPr/>
          <p:nvPr/>
        </p:nvSpPr>
        <p:spPr>
          <a:xfrm rot="-60000">
            <a:off x="8302752" y="1325880"/>
            <a:ext cx="3145536" cy="1783080"/>
          </a:xfrm>
          <a:prstGeom prst="rect">
            <a:avLst/>
          </a:prstGeom>
          <a:noFill/>
          <a:ln/>
        </p:spPr>
        <p:txBody>
          <a:bodyPr wrap="square" rtlCol="0" anchor="t"/>
          <a:lstStyle/>
          <a:p>
            <a:pPr indent="0" marL="0">
              <a:lnSpc>
                <a:spcPct val="135000"/>
              </a:lnSpc>
              <a:buNone/>
            </a:pPr>
            <a:r>
              <a:rPr lang="en-US" sz="950" dirty="0">
                <a:solidFill>
                  <a:srgbClr val="1C1828"/>
                </a:solidFill>
              </a:rPr>
              <a:t>Wie koennen wir Mia, die viel Zeit investiert ohne zu merken ob sie Stoff wirklich verstanden oder nur wiedererkannt hat, dabei helfen die Qualitaet ihres Lernens waehrend des Lernens zu spueren — damit sie in der Pruefung nicht an der Anwendung scheitert sondern Wissen wirklich abrufen kann?</a:t>
            </a:r>
            <a:endParaRPr lang="en-US" sz="950" dirty="0"/>
          </a:p>
        </p:txBody>
      </p:sp>
      <p:sp>
        <p:nvSpPr>
          <p:cNvPr id="49" name="Shape 47"/>
          <p:cNvSpPr/>
          <p:nvPr/>
        </p:nvSpPr>
        <p:spPr>
          <a:xfrm rot="-60000">
            <a:off x="8321040" y="3136392"/>
            <a:ext cx="3108960" cy="0"/>
          </a:xfrm>
          <a:prstGeom prst="line">
            <a:avLst/>
          </a:prstGeom>
          <a:noFill/>
          <a:ln w="12700">
            <a:solidFill>
              <a:srgbClr val="6A1B9A">
                <a:alpha val="60000"/>
              </a:srgbClr>
            </a:solidFill>
            <a:prstDash val="solid"/>
          </a:ln>
        </p:spPr>
      </p:sp>
      <p:sp>
        <p:nvSpPr>
          <p:cNvPr id="50" name="Text 48"/>
          <p:cNvSpPr/>
          <p:nvPr/>
        </p:nvSpPr>
        <p:spPr>
          <a:xfrm rot="-60000">
            <a:off x="8302752" y="3273552"/>
            <a:ext cx="3145536" cy="201168"/>
          </a:xfrm>
          <a:prstGeom prst="rect">
            <a:avLst/>
          </a:prstGeom>
          <a:noFill/>
          <a:ln/>
        </p:spPr>
        <p:txBody>
          <a:bodyPr wrap="square" lIns="0" tIns="0" rIns="0" bIns="0" rtlCol="0" anchor="ctr"/>
          <a:lstStyle/>
          <a:p>
            <a:pPr indent="0" marL="0">
              <a:buNone/>
            </a:pPr>
            <a:r>
              <a:rPr lang="en-US" sz="700" b="1" spc="150" kern="0" dirty="0">
                <a:solidFill>
                  <a:srgbClr val="4A0080"/>
                </a:solidFill>
              </a:rPr>
              <a:t>⚡  PAIN</a:t>
            </a:r>
            <a:endParaRPr lang="en-US" sz="700" dirty="0"/>
          </a:p>
        </p:txBody>
      </p:sp>
      <p:sp>
        <p:nvSpPr>
          <p:cNvPr id="51" name="Text 49"/>
          <p:cNvSpPr/>
          <p:nvPr/>
        </p:nvSpPr>
        <p:spPr>
          <a:xfrm rot="-60000">
            <a:off x="8302752" y="3474720"/>
            <a:ext cx="3145536" cy="502920"/>
          </a:xfrm>
          <a:prstGeom prst="rect">
            <a:avLst/>
          </a:prstGeom>
          <a:noFill/>
          <a:ln/>
        </p:spPr>
        <p:txBody>
          <a:bodyPr wrap="square" rtlCol="0" anchor="t"/>
          <a:lstStyle/>
          <a:p>
            <a:pPr indent="0" marL="0">
              <a:lnSpc>
                <a:spcPct val="130000"/>
              </a:lnSpc>
              <a:buNone/>
            </a:pPr>
            <a:r>
              <a:rPr lang="en-US" sz="1100" b="1" dirty="0">
                <a:solidFill>
                  <a:srgbClr val="4A0080"/>
                </a:solidFill>
              </a:rPr>
              <a:t>„</a:t>
            </a:r>
            <a:pPr indent="0" marL="0">
              <a:lnSpc>
                <a:spcPct val="130000"/>
              </a:lnSpc>
              <a:buNone/>
            </a:pPr>
            <a:r>
              <a:rPr lang="en-US" sz="850" i="1" dirty="0">
                <a:solidFill>
                  <a:srgbClr val="4A0080"/>
                </a:solidFill>
              </a:rPr>
              <a:t>Verwechselt Wiedererkennen mit Verstehen — merkt es erst wenn es in der Pruefung zu spaet ist</a:t>
            </a:r>
            <a:pPr indent="0" marL="0">
              <a:lnSpc>
                <a:spcPct val="130000"/>
              </a:lnSpc>
              <a:buNone/>
            </a:pPr>
            <a:r>
              <a:rPr lang="en-US" sz="1100" b="1" dirty="0">
                <a:solidFill>
                  <a:srgbClr val="4A0080"/>
                </a:solidFill>
              </a:rPr>
              <a:t>“</a:t>
            </a:r>
            <a:endParaRPr lang="en-US" sz="1100" dirty="0"/>
          </a:p>
        </p:txBody>
      </p:sp>
      <p:sp>
        <p:nvSpPr>
          <p:cNvPr id="52" name="Shape 50"/>
          <p:cNvSpPr/>
          <p:nvPr/>
        </p:nvSpPr>
        <p:spPr>
          <a:xfrm rot="-60000">
            <a:off x="8321040" y="3995928"/>
            <a:ext cx="3108960" cy="0"/>
          </a:xfrm>
          <a:prstGeom prst="line">
            <a:avLst/>
          </a:prstGeom>
          <a:noFill/>
          <a:ln w="12700">
            <a:solidFill>
              <a:srgbClr val="6A1B9A">
                <a:alpha val="45000"/>
              </a:srgbClr>
            </a:solidFill>
            <a:prstDash val="solid"/>
          </a:ln>
        </p:spPr>
      </p:sp>
      <p:sp>
        <p:nvSpPr>
          <p:cNvPr id="53" name="Text 51"/>
          <p:cNvSpPr/>
          <p:nvPr/>
        </p:nvSpPr>
        <p:spPr>
          <a:xfrm rot="-60000">
            <a:off x="8302752" y="4069080"/>
            <a:ext cx="3145536" cy="201168"/>
          </a:xfrm>
          <a:prstGeom prst="rect">
            <a:avLst/>
          </a:prstGeom>
          <a:noFill/>
          <a:ln/>
        </p:spPr>
        <p:txBody>
          <a:bodyPr wrap="square" lIns="0" tIns="0" rIns="0" bIns="0" rtlCol="0" anchor="ctr"/>
          <a:lstStyle/>
          <a:p>
            <a:pPr indent="0" marL="0">
              <a:buNone/>
            </a:pPr>
            <a:r>
              <a:rPr lang="en-US" sz="700" b="1" spc="150" kern="0" dirty="0">
                <a:solidFill>
                  <a:srgbClr val="4A0080"/>
                </a:solidFill>
              </a:rPr>
              <a:t>♥  GAIN</a:t>
            </a:r>
            <a:endParaRPr lang="en-US" sz="700" dirty="0"/>
          </a:p>
        </p:txBody>
      </p:sp>
      <p:sp>
        <p:nvSpPr>
          <p:cNvPr id="54" name="Text 52"/>
          <p:cNvSpPr/>
          <p:nvPr/>
        </p:nvSpPr>
        <p:spPr>
          <a:xfrm rot="-60000">
            <a:off x="8302752" y="4270248"/>
            <a:ext cx="3145536" cy="502920"/>
          </a:xfrm>
          <a:prstGeom prst="rect">
            <a:avLst/>
          </a:prstGeom>
          <a:noFill/>
          <a:ln/>
        </p:spPr>
        <p:txBody>
          <a:bodyPr wrap="square" rtlCol="0" anchor="t"/>
          <a:lstStyle/>
          <a:p>
            <a:pPr indent="0" marL="0">
              <a:lnSpc>
                <a:spcPct val="130000"/>
              </a:lnSpc>
              <a:buNone/>
            </a:pPr>
            <a:r>
              <a:rPr lang="en-US" sz="1100" b="1" dirty="0">
                <a:solidFill>
                  <a:srgbClr val="4A0080"/>
                </a:solidFill>
              </a:rPr>
              <a:t>„</a:t>
            </a:r>
            <a:pPr indent="0" marL="0">
              <a:lnSpc>
                <a:spcPct val="130000"/>
              </a:lnSpc>
              <a:buNone/>
            </a:pPr>
            <a:r>
              <a:rPr lang="en-US" sz="850" i="1" dirty="0">
                <a:solidFill>
                  <a:srgbClr val="4A0080"/>
                </a:solidFill>
              </a:rPr>
              <a:t>Die Qualitaet des eigenen Lernens spueren — bevor die Note kommt</a:t>
            </a:r>
            <a:pPr indent="0" marL="0">
              <a:lnSpc>
                <a:spcPct val="130000"/>
              </a:lnSpc>
              <a:buNone/>
            </a:pPr>
            <a:r>
              <a:rPr lang="en-US" sz="1100" b="1" dirty="0">
                <a:solidFill>
                  <a:srgbClr val="4A0080"/>
                </a:solidFill>
              </a:rPr>
              <a:t>“</a:t>
            </a:r>
            <a:endParaRPr lang="en-US" sz="1100" dirty="0"/>
          </a:p>
        </p:txBody>
      </p:sp>
      <p:sp>
        <p:nvSpPr>
          <p:cNvPr id="55" name="Shape 53"/>
          <p:cNvSpPr/>
          <p:nvPr/>
        </p:nvSpPr>
        <p:spPr>
          <a:xfrm>
            <a:off x="0" y="6565392"/>
            <a:ext cx="12161520" cy="292608"/>
          </a:xfrm>
          <a:prstGeom prst="rect">
            <a:avLst/>
          </a:prstGeom>
          <a:solidFill>
            <a:srgbClr val="0F2236"/>
          </a:solidFill>
          <a:ln w="12700">
            <a:solidFill>
              <a:srgbClr val="0F2236"/>
            </a:solidFill>
            <a:prstDash val="solid"/>
          </a:ln>
        </p:spPr>
      </p:sp>
      <p:sp>
        <p:nvSpPr>
          <p:cNvPr id="56" name="Text 54"/>
          <p:cNvSpPr/>
          <p:nvPr/>
        </p:nvSpPr>
        <p:spPr>
          <a:xfrm>
            <a:off x="365760" y="6565392"/>
            <a:ext cx="11430000" cy="292608"/>
          </a:xfrm>
          <a:prstGeom prst="rect">
            <a:avLst/>
          </a:prstGeom>
          <a:noFill/>
          <a:ln/>
        </p:spPr>
        <p:txBody>
          <a:bodyPr wrap="square" lIns="0" tIns="0" rIns="0" bIns="0" rtlCol="0" anchor="ctr"/>
          <a:lstStyle/>
          <a:p>
            <a:pPr indent="0" marL="0">
              <a:buNone/>
            </a:pPr>
            <a:r>
              <a:rPr lang="en-US" sz="750" dirty="0">
                <a:solidFill>
                  <a:srgbClr val="6B96B8"/>
                </a:solidFill>
              </a:rPr>
              <a:t>Phase 3 — Standpunkt definieren  |  Top 3 WKW-Fragen  |  Persona: Mia</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2026-03-19T10:25:04Z</dcterms:created>
  <dcterms:modified xsi:type="dcterms:W3CDTF">2026-03-19T10:25:04Z</dcterms:modified>
</cp:coreProperties>
</file>